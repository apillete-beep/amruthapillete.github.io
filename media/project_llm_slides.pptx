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nter Semi-Bold" charset="1" panose="02000503000000020004"/>
      <p:regular r:id="rId9"/>
    </p:embeddedFont>
    <p:embeddedFont>
      <p:font typeface="Inter Light" charset="1" panose="02000503000000020004"/>
      <p:regular r:id="rId10"/>
    </p:embeddedFont>
    <p:embeddedFont>
      <p:font typeface="Inter" charset="1" panose="020B0502030000000004"/>
      <p:regular r:id="rId11"/>
    </p:embeddedFont>
    <p:embeddedFont>
      <p:font typeface="Inter Bold" charset="1" panose="020B0802030000000004"/>
      <p:regular r:id="rId12"/>
    </p:embeddedFont>
    <p:embeddedFont>
      <p:font typeface="Canva Sans Bold" charset="1" panose="020B08030305010401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633335" y="2165776"/>
            <a:ext cx="10730064" cy="5955448"/>
            <a:chOff x="0" y="0"/>
            <a:chExt cx="3845413" cy="2134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2134298"/>
            </a:xfrm>
            <a:custGeom>
              <a:avLst/>
              <a:gdLst/>
              <a:ahLst/>
              <a:cxnLst/>
              <a:rect r="r" b="b" t="t" l="l"/>
              <a:pathLst>
                <a:path h="213429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2181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47646" y="3509857"/>
            <a:ext cx="7553325" cy="285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4"/>
              </a:lnSpc>
            </a:pPr>
            <a:r>
              <a:rPr lang="en-US" b="true" sz="8499" spc="-637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EVALUATION OF PROMPTS ON LLM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47646" y="6420908"/>
            <a:ext cx="621357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CON 598: AI IN CONSTRUCTION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3474" y="7139093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DR. KEN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TH 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SUL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LI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VA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190" y="993352"/>
            <a:ext cx="3540821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AMRUTHESHWARI PILLETE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MELANIE DURAN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190" y="8951595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SEPTEMBER 3, 2025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89665" y="7441488"/>
            <a:ext cx="9504908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5400000">
            <a:off x="-3712126" y="1932042"/>
            <a:ext cx="10730064" cy="5979852"/>
            <a:chOff x="0" y="0"/>
            <a:chExt cx="3845413" cy="21430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168641" y="230386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885494" y="2631471"/>
            <a:ext cx="9675911" cy="582930"/>
            <a:chOff x="0" y="0"/>
            <a:chExt cx="2548388" cy="1535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8388" cy="153529"/>
            </a:xfrm>
            <a:custGeom>
              <a:avLst/>
              <a:gdLst/>
              <a:ahLst/>
              <a:cxnLst/>
              <a:rect r="r" b="b" t="t" l="l"/>
              <a:pathLst>
                <a:path h="153529" w="2548388">
                  <a:moveTo>
                    <a:pt x="0" y="0"/>
                  </a:moveTo>
                  <a:lnTo>
                    <a:pt x="2548388" y="0"/>
                  </a:lnTo>
                  <a:lnTo>
                    <a:pt x="2548388" y="153529"/>
                  </a:lnTo>
                  <a:lnTo>
                    <a:pt x="0" y="153529"/>
                  </a:lnTo>
                  <a:close/>
                </a:path>
              </a:pathLst>
            </a:custGeom>
            <a:solidFill>
              <a:srgbClr val="403E3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48388" cy="19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889665" y="990895"/>
            <a:ext cx="9500737" cy="186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Key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Le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rn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ing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: Prompt Specificity Matters</a:t>
            </a:r>
          </a:p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6283355" y="4235485"/>
            <a:ext cx="2168401" cy="453578"/>
            <a:chOff x="0" y="0"/>
            <a:chExt cx="571101" cy="1194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101" cy="119461"/>
            </a:xfrm>
            <a:custGeom>
              <a:avLst/>
              <a:gdLst/>
              <a:ahLst/>
              <a:cxnLst/>
              <a:rect r="r" b="b" t="t" l="l"/>
              <a:pathLst>
                <a:path h="119461" w="571101">
                  <a:moveTo>
                    <a:pt x="0" y="0"/>
                  </a:moveTo>
                  <a:lnTo>
                    <a:pt x="571101" y="0"/>
                  </a:lnTo>
                  <a:lnTo>
                    <a:pt x="571101" y="119461"/>
                  </a:lnTo>
                  <a:lnTo>
                    <a:pt x="0" y="119461"/>
                  </a:lnTo>
                  <a:close/>
                </a:path>
              </a:pathLst>
            </a:custGeom>
            <a:solidFill>
              <a:srgbClr val="E1DDD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1101" cy="15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889665" y="3592230"/>
            <a:ext cx="3919853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209">
                <a:solidFill>
                  <a:srgbClr val="737373"/>
                </a:solidFill>
                <a:latin typeface="Inter Bold"/>
                <a:ea typeface="Inter Bold"/>
                <a:cs typeface="Inter Bold"/>
                <a:sym typeface="Inter Bold"/>
              </a:rPr>
              <a:t>WHAT WE DISC</a:t>
            </a:r>
            <a:r>
              <a:rPr lang="en-US" b="true" sz="2799" spc="-209" strike="noStrike" u="none">
                <a:solidFill>
                  <a:srgbClr val="737373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799" spc="-209" strike="noStrike" u="none">
                <a:solidFill>
                  <a:srgbClr val="737373"/>
                </a:solidFill>
                <a:latin typeface="Inter Bold"/>
                <a:ea typeface="Inter Bold"/>
                <a:cs typeface="Inter Bold"/>
                <a:sym typeface="Inter Bold"/>
              </a:rPr>
              <a:t>V</a:t>
            </a:r>
            <a:r>
              <a:rPr lang="en-US" b="true" sz="2799" spc="-209" strike="noStrike" u="none">
                <a:solidFill>
                  <a:srgbClr val="737373"/>
                </a:solidFill>
                <a:latin typeface="Inter Bold"/>
                <a:ea typeface="Inter Bold"/>
                <a:cs typeface="Inter Bold"/>
                <a:sym typeface="Inter Bold"/>
              </a:rPr>
              <a:t>ER</a:t>
            </a:r>
            <a:r>
              <a:rPr lang="en-US" b="true" sz="2799" spc="-209" strike="noStrike" u="none">
                <a:solidFill>
                  <a:srgbClr val="737373"/>
                </a:solidFill>
                <a:latin typeface="Inter Bold"/>
                <a:ea typeface="Inter Bold"/>
                <a:cs typeface="Inter Bold"/>
                <a:sym typeface="Inter Bold"/>
              </a:rPr>
              <a:t>ED: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6283355" y="5418895"/>
            <a:ext cx="2633029" cy="453578"/>
            <a:chOff x="0" y="0"/>
            <a:chExt cx="693473" cy="1194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3473" cy="119461"/>
            </a:xfrm>
            <a:custGeom>
              <a:avLst/>
              <a:gdLst/>
              <a:ahLst/>
              <a:cxnLst/>
              <a:rect r="r" b="b" t="t" l="l"/>
              <a:pathLst>
                <a:path h="119461" w="693473">
                  <a:moveTo>
                    <a:pt x="0" y="0"/>
                  </a:moveTo>
                  <a:lnTo>
                    <a:pt x="693473" y="0"/>
                  </a:lnTo>
                  <a:lnTo>
                    <a:pt x="693473" y="119461"/>
                  </a:lnTo>
                  <a:lnTo>
                    <a:pt x="0" y="119461"/>
                  </a:lnTo>
                  <a:close/>
                </a:path>
              </a:pathLst>
            </a:custGeom>
            <a:solidFill>
              <a:srgbClr val="E1DD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3473" cy="15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889665" y="4273155"/>
            <a:ext cx="10576759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 spc="-87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BASIC PROMPT</a:t>
            </a:r>
            <a:r>
              <a:rPr lang="en-US" b="true" sz="2199" spc="-8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2199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"HOW SHOULD I HANDLE CONSTRUCTION DELAYS CAUSED BY HEAT?"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      </a:t>
            </a:r>
            <a:r>
              <a:rPr lang="en-US" sz="2199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GENERIC ADVICE</a:t>
            </a:r>
          </a:p>
          <a:p>
            <a:pPr algn="l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-87" strike="noStrike" u="none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DETAILED PR</a:t>
            </a:r>
            <a:r>
              <a:rPr lang="en-US" b="true" sz="2199" spc="-87" strike="noStrike" u="none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199" spc="-87" strike="noStrike" u="none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MPT</a:t>
            </a:r>
            <a:r>
              <a:rPr lang="en-US" sz="2199" spc="-8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"$60M PROJECT, PHOENIX, STRUCTUR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PHASE,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°F+"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SPECI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IC, ACTI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NAB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 SO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UTI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NS</a:t>
            </a:r>
          </a:p>
          <a:p>
            <a:pPr algn="l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ALL MODELS ADAPTED AND IMPROVED 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ITH CONTEXT</a:t>
            </a:r>
          </a:p>
          <a:p>
            <a:pPr algn="l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SPECIFIC DETAILS TRIGG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ED 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199" spc="-8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PECIALIZED KNOWLEDGE IN EACH AI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942644" y="7893926"/>
            <a:ext cx="9675911" cy="1823626"/>
            <a:chOff x="0" y="0"/>
            <a:chExt cx="2548388" cy="4802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8388" cy="480297"/>
            </a:xfrm>
            <a:custGeom>
              <a:avLst/>
              <a:gdLst/>
              <a:ahLst/>
              <a:cxnLst/>
              <a:rect r="r" b="b" t="t" l="l"/>
              <a:pathLst>
                <a:path h="480297" w="2548388">
                  <a:moveTo>
                    <a:pt x="0" y="0"/>
                  </a:moveTo>
                  <a:lnTo>
                    <a:pt x="2548388" y="0"/>
                  </a:lnTo>
                  <a:lnTo>
                    <a:pt x="2548388" y="480297"/>
                  </a:lnTo>
                  <a:lnTo>
                    <a:pt x="0" y="480297"/>
                  </a:lnTo>
                  <a:close/>
                </a:path>
              </a:pathLst>
            </a:custGeom>
            <a:solidFill>
              <a:srgbClr val="E1DD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8388" cy="518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066995" y="7979651"/>
            <a:ext cx="39198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209">
                <a:solidFill>
                  <a:srgbClr val="66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 TAKEAWAY: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83355" y="8511037"/>
            <a:ext cx="9127801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DON'T ASK AI VAGUE QUESTIONS. GIVE CONTEXT: PROJECT SIZE, LOCATION, SPECIFIC PHASE, BUDGET, CONSTRAINTS. YOU'LL GET MUCH BETTER ANSWERS THAT YOU CAN ACTUALLY USE.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83355" y="2724499"/>
            <a:ext cx="89944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-79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THE M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RE DE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AI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ED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TH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 PROMP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,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THE BETT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R ALL MODELS 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ERF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OR</a:t>
            </a:r>
            <a:r>
              <a:rPr lang="en-US" b="true" sz="1999" spc="-79" strike="noStrike" u="none">
                <a:solidFill>
                  <a:srgbClr val="E1DDD4"/>
                </a:solidFill>
                <a:latin typeface="Inter Bold"/>
                <a:ea typeface="Inter Bold"/>
                <a:cs typeface="Inter Bold"/>
                <a:sym typeface="Inter Bold"/>
              </a:rPr>
              <a:t>MED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8711" y="642100"/>
            <a:ext cx="4474512" cy="92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b="true" sz="3335" spc="-250">
                <a:solidFill>
                  <a:srgbClr val="73737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EVALUATION OF PROMPTS ON LLM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8711" y="9507987"/>
            <a:ext cx="3680858" cy="37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5"/>
              </a:lnSpc>
              <a:spcBef>
                <a:spcPct val="0"/>
              </a:spcBef>
            </a:pPr>
            <a:r>
              <a:rPr lang="en-US" sz="2132" spc="-15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CON 598: AI IN CONSTRUCTION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3510" y="1667659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SEPTEMBER 3, 2025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535288" y="6287651"/>
            <a:ext cx="9504908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6531116" y="2271968"/>
            <a:ext cx="9504908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535288" y="4257345"/>
            <a:ext cx="9504908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683219" y="2376552"/>
            <a:ext cx="4210961" cy="52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1"/>
              </a:lnSpc>
              <a:spcBef>
                <a:spcPct val="0"/>
              </a:spcBef>
            </a:pPr>
            <a:r>
              <a:rPr lang="en-US" b="true" sz="3007" spc="-225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3007" spc="-225" strike="noStrike" u="none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3007" spc="-225" strike="noStrike" u="none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AUD</a:t>
            </a:r>
            <a:r>
              <a:rPr lang="en-US" b="true" sz="3007" spc="-225" strike="noStrike" u="none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7700" y="2922449"/>
            <a:ext cx="4210961" cy="134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1933" spc="-7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✓ RESE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RCH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CITATIONS</a:t>
            </a:r>
          </a:p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SPECI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IC NUMBERS/C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933" spc="-77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STS</a:t>
            </a:r>
          </a:p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✗ TO</a:t>
            </a: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ORDY FOR FI</a:t>
            </a: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LD U</a:t>
            </a: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933" spc="-77" strike="noStrike" u="none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</a:p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687700" y="4366882"/>
            <a:ext cx="4210961" cy="52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1"/>
              </a:lnSpc>
              <a:spcBef>
                <a:spcPct val="0"/>
              </a:spcBef>
            </a:pPr>
            <a:r>
              <a:rPr lang="en-US" b="true" sz="3007" spc="-225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CH</a:t>
            </a:r>
            <a:r>
              <a:rPr lang="en-US" b="true" sz="3007" spc="-225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ATGPT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87700" y="4912779"/>
            <a:ext cx="4210961" cy="137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1933" spc="-7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✓ CLEAR ORGANIZATION</a:t>
            </a:r>
          </a:p>
          <a:p>
            <a:pPr algn="l">
              <a:lnSpc>
                <a:spcPts val="2707"/>
              </a:lnSpc>
            </a:pPr>
            <a:r>
              <a:rPr lang="en-US" sz="1933" spc="-7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✓ EASY TO FOLLOW</a:t>
            </a:r>
          </a:p>
          <a:p>
            <a:pPr algn="l">
              <a:lnSpc>
                <a:spcPts val="2707"/>
              </a:lnSpc>
            </a:pPr>
            <a:r>
              <a:rPr lang="en-US" sz="1933" spc="-77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✗ GENERIC ADVICE</a:t>
            </a:r>
          </a:p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247897" y="2376552"/>
            <a:ext cx="4210961" cy="52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1"/>
              </a:lnSpc>
              <a:spcBef>
                <a:spcPct val="0"/>
              </a:spcBef>
            </a:pPr>
            <a:r>
              <a:rPr lang="en-US" b="true" sz="3007" spc="-225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GEMINI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47897" y="2922449"/>
            <a:ext cx="4210961" cy="134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1933" spc="-7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✓ LOCAL LAW KNOWLEDGE</a:t>
            </a:r>
          </a:p>
          <a:p>
            <a:pPr algn="l">
              <a:lnSpc>
                <a:spcPts val="2707"/>
              </a:lnSpc>
            </a:pPr>
            <a:r>
              <a:rPr lang="en-US" sz="1933" spc="-7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✓ CONTRACT GUIDANCE</a:t>
            </a:r>
          </a:p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1933" spc="-77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✗ LESS ACTIONABLE STEPS</a:t>
            </a:r>
          </a:p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252378" y="4366882"/>
            <a:ext cx="4210961" cy="52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1"/>
              </a:lnSpc>
              <a:spcBef>
                <a:spcPct val="0"/>
              </a:spcBef>
            </a:pPr>
            <a:r>
              <a:rPr lang="en-US" b="true" sz="3007" spc="-225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  <a:r>
              <a:rPr lang="en-US" b="true" sz="3007" spc="-225">
                <a:solidFill>
                  <a:srgbClr val="664949"/>
                </a:solidFill>
                <a:latin typeface="Inter Bold"/>
                <a:ea typeface="Inter Bold"/>
                <a:cs typeface="Inter Bold"/>
                <a:sym typeface="Inter Bold"/>
              </a:rPr>
              <a:t>ROK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52378" y="4912779"/>
            <a:ext cx="4210961" cy="137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1933" spc="-7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✓ CURRENT 2025 REGULATIONS</a:t>
            </a:r>
          </a:p>
          <a:p>
            <a:pPr algn="l">
              <a:lnSpc>
                <a:spcPts val="2707"/>
              </a:lnSpc>
            </a:pPr>
            <a:r>
              <a:rPr lang="en-US" sz="1933" spc="-7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✓ REAL-TIME UPDATES</a:t>
            </a:r>
          </a:p>
          <a:p>
            <a:pPr algn="l">
              <a:lnSpc>
                <a:spcPts val="2707"/>
              </a:lnSpc>
            </a:pPr>
            <a:r>
              <a:rPr lang="en-US" sz="1933" spc="-77">
                <a:solidFill>
                  <a:srgbClr val="664949"/>
                </a:solidFill>
                <a:latin typeface="Inter"/>
                <a:ea typeface="Inter"/>
                <a:cs typeface="Inter"/>
                <a:sym typeface="Inter"/>
              </a:rPr>
              <a:t>✗ SLOW RESPONSES (37 SEC)</a:t>
            </a:r>
          </a:p>
          <a:p>
            <a:pPr algn="l" marL="0" indent="0" lvl="0">
              <a:lnSpc>
                <a:spcPts val="2707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100447" y="999110"/>
            <a:ext cx="11158853" cy="126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Str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ngt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hs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&amp; Cr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ic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al Lim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itat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ion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</a:p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5400000">
            <a:off x="-3712126" y="1932042"/>
            <a:ext cx="10730064" cy="5979852"/>
            <a:chOff x="0" y="0"/>
            <a:chExt cx="3845413" cy="21430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168641" y="2106917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58711" y="642100"/>
            <a:ext cx="4474512" cy="92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b="true" sz="3335" spc="-250">
                <a:solidFill>
                  <a:srgbClr val="73737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EVALUATION OF PROMPTS ON LLM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8711" y="9507987"/>
            <a:ext cx="3680858" cy="37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5"/>
              </a:lnSpc>
              <a:spcBef>
                <a:spcPct val="0"/>
              </a:spcBef>
            </a:pPr>
            <a:r>
              <a:rPr lang="en-US" sz="2132" spc="-15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CON 598: AI IN CONSTRUCTION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3510" y="1667659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SEPTEMBER 3, 2025 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6100447" y="1974364"/>
            <a:ext cx="10632884" cy="4763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6243797" y="6646166"/>
            <a:ext cx="10489533" cy="3233326"/>
            <a:chOff x="0" y="0"/>
            <a:chExt cx="2762675" cy="8515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62675" cy="851576"/>
            </a:xfrm>
            <a:custGeom>
              <a:avLst/>
              <a:gdLst/>
              <a:ahLst/>
              <a:cxnLst/>
              <a:rect r="r" b="b" t="t" l="l"/>
              <a:pathLst>
                <a:path h="851576" w="2762675">
                  <a:moveTo>
                    <a:pt x="0" y="0"/>
                  </a:moveTo>
                  <a:lnTo>
                    <a:pt x="2762675" y="0"/>
                  </a:lnTo>
                  <a:lnTo>
                    <a:pt x="2762675" y="851576"/>
                  </a:lnTo>
                  <a:lnTo>
                    <a:pt x="0" y="851576"/>
                  </a:lnTo>
                  <a:close/>
                </a:path>
              </a:pathLst>
            </a:custGeom>
            <a:solidFill>
              <a:srgbClr val="E1DD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762675" cy="88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378604" y="6731891"/>
            <a:ext cx="65146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209">
                <a:solidFill>
                  <a:srgbClr val="66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CRITICAL REALITY CHECK: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32207" y="7263277"/>
            <a:ext cx="9895333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NONE OF THE MODELS ADDRESSED THE REAL PROBLEM:</a:t>
            </a:r>
            <a:r>
              <a:rPr lang="en-US" sz="19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HOW DO YOU ACTUALLY HANDLE CLIENT PRESSURE WHEN SAFETY REQUIRES STOPPING WORK? THIS GAP SHOWS AI STILL CAN'T REPLACE HUMAN JUDGMENT IN COMPLEX PROFESSIONAL SITUATIONS.</a:t>
            </a:r>
          </a:p>
          <a:p>
            <a:pPr algn="l">
              <a:lnSpc>
                <a:spcPts val="2799"/>
              </a:lnSpc>
            </a:pP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SAFETY WARNING:</a:t>
            </a:r>
            <a:r>
              <a:rPr lang="en-US" sz="19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NEVER RELY ONLY ON AI FOR LIFE-SAFETY DECISIONS. ALWAYS VERIFY WITH CERTIFIED SAFETY PROFESSIONALS.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DAGxxnQWgzw</dc:identifier>
  <dcterms:modified xsi:type="dcterms:W3CDTF">2011-08-01T06:04:30Z</dcterms:modified>
  <cp:revision>1</cp:revision>
  <dc:title>Evaluation of prompts on LLM</dc:title>
</cp:coreProperties>
</file>